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758" y="-29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4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2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4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0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8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38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0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8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4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DFCAD-510C-471E-9153-E59FE7B8BB5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E0681-2C5E-4F8D-9012-B8DE325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87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github.com/ultralytics/ultralytics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452062-665B-2960-9A62-3617E57DFABB}"/>
              </a:ext>
            </a:extLst>
          </p:cNvPr>
          <p:cNvSpPr/>
          <p:nvPr/>
        </p:nvSpPr>
        <p:spPr>
          <a:xfrm>
            <a:off x="-1" y="0"/>
            <a:ext cx="30267275" cy="6457950"/>
          </a:xfrm>
          <a:prstGeom prst="rect">
            <a:avLst/>
          </a:prstGeom>
          <a:solidFill>
            <a:srgbClr val="0B0B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E7CD5-1D6B-52C3-3DAD-C2BA4BF1AB40}"/>
              </a:ext>
            </a:extLst>
          </p:cNvPr>
          <p:cNvSpPr txBox="1"/>
          <p:nvPr/>
        </p:nvSpPr>
        <p:spPr>
          <a:xfrm>
            <a:off x="4301513" y="379139"/>
            <a:ext cx="2166424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 Detection and Tracking System</a:t>
            </a:r>
          </a:p>
          <a:p>
            <a:pPr algn="ctr"/>
            <a:endParaRPr lang="en-US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Echipa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YVL</a:t>
            </a:r>
          </a:p>
          <a:p>
            <a:pPr algn="ctr"/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Universitatea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Tehnic</a:t>
            </a:r>
            <a:r>
              <a:rPr lang="ro-RO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“Gheorghe 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Asachi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ro-RO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Facultatea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Automatic</a:t>
            </a:r>
            <a:r>
              <a:rPr lang="ro-RO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Calculatoare</a:t>
            </a:r>
            <a:endParaRPr lang="en-US" sz="6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8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722530-56A2-BE4C-35B1-12D1994A55B7}"/>
              </a:ext>
            </a:extLst>
          </p:cNvPr>
          <p:cNvSpPr/>
          <p:nvPr/>
        </p:nvSpPr>
        <p:spPr>
          <a:xfrm>
            <a:off x="643915" y="1194166"/>
            <a:ext cx="4069617" cy="38233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acultatea de Automatică și Calculatoare – ACum îți programezi viitorul!">
            <a:extLst>
              <a:ext uri="{FF2B5EF4-FFF2-40B4-BE49-F238E27FC236}">
                <a16:creationId xmlns:a16="http://schemas.microsoft.com/office/drawing/2014/main" id="{8A7F839E-24A4-8EFC-263B-C93B449D4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5" y="1194166"/>
            <a:ext cx="4069617" cy="406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3E1EE2-0A31-6F3F-358F-BEF70FDA5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6" y="7313919"/>
            <a:ext cx="8164806" cy="11385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0B7A11-E1E4-A8D0-4877-ED445A200580}"/>
              </a:ext>
            </a:extLst>
          </p:cNvPr>
          <p:cNvSpPr txBox="1"/>
          <p:nvPr/>
        </p:nvSpPr>
        <p:spPr>
          <a:xfrm>
            <a:off x="1468561" y="7313919"/>
            <a:ext cx="6454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Introducere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8E39D-5E9F-2740-D1A5-FB2C3BAAC517}"/>
              </a:ext>
            </a:extLst>
          </p:cNvPr>
          <p:cNvSpPr txBox="1"/>
          <p:nvPr/>
        </p:nvSpPr>
        <p:spPr>
          <a:xfrm>
            <a:off x="626306" y="8451276"/>
            <a:ext cx="8164806" cy="55092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În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contextul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supravegherii</a:t>
            </a:r>
            <a:r>
              <a:rPr lang="en-US" sz="4400" b="0" i="0" dirty="0">
                <a:effectLst/>
                <a:latin typeface="gg sans"/>
              </a:rPr>
              <a:t> video </a:t>
            </a:r>
            <a:r>
              <a:rPr lang="en-US" sz="4400" b="0" i="0" dirty="0" err="1">
                <a:effectLst/>
                <a:latin typeface="gg sans"/>
              </a:rPr>
              <a:t>inteligente</a:t>
            </a:r>
            <a:r>
              <a:rPr lang="en-US" sz="4400" b="0" i="0" dirty="0">
                <a:effectLst/>
                <a:latin typeface="gg sans"/>
              </a:rPr>
              <a:t>,   </a:t>
            </a:r>
            <a:r>
              <a:rPr lang="en-US" sz="4400" b="0" i="0" dirty="0" err="1">
                <a:effectLst/>
                <a:latin typeface="gg sans"/>
              </a:rPr>
              <a:t>menținerea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identității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unei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persoane</a:t>
            </a:r>
            <a:r>
              <a:rPr lang="en-US" sz="4400" b="0" i="0" dirty="0">
                <a:effectLst/>
                <a:latin typeface="gg sans"/>
              </a:rPr>
              <a:t> pe  </a:t>
            </a:r>
            <a:r>
              <a:rPr lang="en-US" sz="4400" b="0" i="0" dirty="0" err="1">
                <a:effectLst/>
                <a:latin typeface="gg sans"/>
              </a:rPr>
              <a:t>parcursul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unor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perioade</a:t>
            </a:r>
            <a:r>
              <a:rPr lang="en-US" sz="4400" b="0" i="0" dirty="0">
                <a:effectLst/>
                <a:latin typeface="gg sans"/>
              </a:rPr>
              <a:t> lungi de </a:t>
            </a:r>
            <a:r>
              <a:rPr lang="en-US" sz="4400" b="0" i="0" dirty="0" err="1">
                <a:effectLst/>
                <a:latin typeface="gg sans"/>
              </a:rPr>
              <a:t>timp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este</a:t>
            </a:r>
            <a:r>
              <a:rPr lang="en-US" sz="4400" b="0" i="0" dirty="0">
                <a:effectLst/>
                <a:latin typeface="gg sans"/>
              </a:rPr>
              <a:t> o </a:t>
            </a:r>
            <a:r>
              <a:rPr lang="en-US" sz="4400" b="0" i="0" dirty="0" err="1">
                <a:effectLst/>
                <a:latin typeface="gg sans"/>
              </a:rPr>
              <a:t>provocare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dificilă</a:t>
            </a:r>
            <a:r>
              <a:rPr lang="en-US" sz="4400" b="0" i="0" dirty="0">
                <a:effectLst/>
                <a:latin typeface="gg sans"/>
              </a:rPr>
              <a:t>.</a:t>
            </a:r>
          </a:p>
          <a:p>
            <a:r>
              <a:rPr lang="en-US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Algoritmii</a:t>
            </a:r>
            <a:r>
              <a:rPr lang="en-US" sz="4400" b="0" i="0" dirty="0">
                <a:effectLst/>
                <a:latin typeface="gg sans"/>
              </a:rPr>
              <a:t> standard de tracking </a:t>
            </a:r>
            <a:r>
              <a:rPr lang="en-US" sz="4400" b="0" i="0" dirty="0" err="1">
                <a:effectLst/>
                <a:latin typeface="gg sans"/>
              </a:rPr>
              <a:t>pierd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adesea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subiecții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în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cazul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ocluziilor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sau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ieșirilor</a:t>
            </a:r>
            <a:r>
              <a:rPr lang="en-US" sz="4400" b="0" i="0" dirty="0">
                <a:effectLst/>
                <a:latin typeface="gg sans"/>
              </a:rPr>
              <a:t> din </a:t>
            </a:r>
            <a:r>
              <a:rPr lang="en-US" sz="4400" b="0" i="0" dirty="0" err="1">
                <a:effectLst/>
                <a:latin typeface="gg sans"/>
              </a:rPr>
              <a:t>cadru</a:t>
            </a:r>
            <a:r>
              <a:rPr lang="en-US" sz="4400" b="0" i="0" dirty="0">
                <a:effectLst/>
                <a:latin typeface="gg sans"/>
              </a:rPr>
              <a:t>. 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A7D85E-A707-E1C4-E5A0-8F2AA65A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385" y="7319763"/>
            <a:ext cx="8164806" cy="12768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180325-EDE0-C4CB-8222-EF82B83875A6}"/>
              </a:ext>
            </a:extLst>
          </p:cNvPr>
          <p:cNvSpPr txBox="1"/>
          <p:nvPr/>
        </p:nvSpPr>
        <p:spPr>
          <a:xfrm>
            <a:off x="10055425" y="7481590"/>
            <a:ext cx="75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Obiectiv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1C4A9-8931-3E34-57BC-18F7EA5BEC4C}"/>
              </a:ext>
            </a:extLst>
          </p:cNvPr>
          <p:cNvSpPr txBox="1"/>
          <p:nvPr/>
        </p:nvSpPr>
        <p:spPr>
          <a:xfrm>
            <a:off x="9808385" y="8557325"/>
            <a:ext cx="8164806" cy="7540526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Dezvoltarea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unui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sistem</a:t>
            </a:r>
            <a:r>
              <a:rPr lang="en-US" sz="4400" b="0" i="0" dirty="0">
                <a:effectLst/>
                <a:latin typeface="gg sans"/>
              </a:rPr>
              <a:t> robust care </a:t>
            </a:r>
            <a:r>
              <a:rPr lang="en-US" sz="4400" b="0" i="0" dirty="0" err="1">
                <a:effectLst/>
                <a:latin typeface="gg sans"/>
              </a:rPr>
              <a:t>să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rezolve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problema</a:t>
            </a:r>
            <a:r>
              <a:rPr lang="en-US" sz="4400" b="0" i="0" dirty="0">
                <a:effectLst/>
                <a:latin typeface="gg sans"/>
              </a:rPr>
              <a:t> „ID-Switch”-</a:t>
            </a:r>
            <a:r>
              <a:rPr lang="en-US" sz="4400" b="0" i="0" dirty="0" err="1">
                <a:effectLst/>
                <a:latin typeface="gg sans"/>
              </a:rPr>
              <a:t>ului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prin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crearea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unei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amprente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vizuale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unice</a:t>
            </a:r>
            <a:r>
              <a:rPr lang="en-US" sz="4400" b="0" i="0" dirty="0">
                <a:effectLst/>
                <a:latin typeface="gg sans"/>
              </a:rPr>
              <a:t>. </a:t>
            </a:r>
            <a:r>
              <a:rPr lang="ro-RO" sz="4400" b="0" i="0" dirty="0">
                <a:effectLst/>
                <a:latin typeface="gg sans"/>
              </a:rPr>
              <a:t>	</a:t>
            </a:r>
          </a:p>
          <a:p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Proiectul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utilizează</a:t>
            </a:r>
            <a:r>
              <a:rPr lang="en-US" sz="4400" b="0" i="0" dirty="0">
                <a:effectLst/>
                <a:latin typeface="gg sans"/>
              </a:rPr>
              <a:t> YOLOv8 </a:t>
            </a:r>
            <a:r>
              <a:rPr lang="en-US" sz="4400" b="0" i="0" dirty="0" err="1">
                <a:effectLst/>
                <a:latin typeface="gg sans"/>
              </a:rPr>
              <a:t>pentru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detecție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rapidă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și</a:t>
            </a:r>
            <a:r>
              <a:rPr lang="en-US" sz="4400" b="0" i="0" dirty="0">
                <a:effectLst/>
                <a:latin typeface="gg sans"/>
              </a:rPr>
              <a:t> o </a:t>
            </a:r>
            <a:r>
              <a:rPr lang="en-US" sz="4400" b="0" i="0" dirty="0" err="1">
                <a:effectLst/>
                <a:latin typeface="gg sans"/>
              </a:rPr>
              <a:t>logică</a:t>
            </a:r>
            <a:r>
              <a:rPr lang="en-US" sz="4400" b="0" i="0" dirty="0">
                <a:effectLst/>
                <a:latin typeface="gg sans"/>
              </a:rPr>
              <a:t> de re-</a:t>
            </a:r>
            <a:r>
              <a:rPr lang="en-US" sz="4400" b="0" i="0" dirty="0" err="1">
                <a:effectLst/>
                <a:latin typeface="gg sans"/>
              </a:rPr>
              <a:t>identificare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bazată</a:t>
            </a:r>
            <a:r>
              <a:rPr lang="en-US" sz="4400" b="0" i="0" dirty="0">
                <a:effectLst/>
                <a:latin typeface="gg sans"/>
              </a:rPr>
              <a:t> pe </a:t>
            </a:r>
            <a:r>
              <a:rPr lang="en-US" sz="4400" b="0" i="0" dirty="0" err="1">
                <a:effectLst/>
                <a:latin typeface="gg sans"/>
              </a:rPr>
              <a:t>histograme</a:t>
            </a:r>
            <a:r>
              <a:rPr lang="en-US" sz="4400" b="0" i="0" dirty="0">
                <a:effectLst/>
                <a:latin typeface="gg sans"/>
              </a:rPr>
              <a:t> de </a:t>
            </a:r>
            <a:r>
              <a:rPr lang="en-US" sz="4400" b="0" i="0" dirty="0" err="1">
                <a:effectLst/>
                <a:latin typeface="gg sans"/>
              </a:rPr>
              <a:t>culoare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și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distanță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cosinus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pentru</a:t>
            </a:r>
            <a:r>
              <a:rPr lang="en-US" sz="4400" b="0" i="0" dirty="0">
                <a:effectLst/>
                <a:latin typeface="gg sans"/>
              </a:rPr>
              <a:t> a </a:t>
            </a:r>
            <a:r>
              <a:rPr lang="en-US" sz="4400" b="0" i="0" dirty="0" err="1">
                <a:effectLst/>
                <a:latin typeface="gg sans"/>
              </a:rPr>
              <a:t>menține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același</a:t>
            </a:r>
            <a:r>
              <a:rPr lang="en-US" sz="4400" b="0" i="0" dirty="0">
                <a:effectLst/>
                <a:latin typeface="gg sans"/>
              </a:rPr>
              <a:t> ID permanent, </a:t>
            </a:r>
            <a:r>
              <a:rPr lang="en-US" sz="4400" b="0" i="0" dirty="0" err="1">
                <a:effectLst/>
                <a:latin typeface="gg sans"/>
              </a:rPr>
              <a:t>indiferent</a:t>
            </a:r>
            <a:r>
              <a:rPr lang="en-US" sz="4400" b="0" i="0" dirty="0">
                <a:effectLst/>
                <a:latin typeface="gg sans"/>
              </a:rPr>
              <a:t> de </a:t>
            </a:r>
            <a:r>
              <a:rPr lang="en-US" sz="4400" b="0" i="0" dirty="0" err="1">
                <a:effectLst/>
                <a:latin typeface="gg sans"/>
              </a:rPr>
              <a:t>ocluzii</a:t>
            </a:r>
            <a:r>
              <a:rPr lang="en-US" sz="4400" b="0" i="0" dirty="0">
                <a:effectLst/>
                <a:latin typeface="gg sans"/>
              </a:rPr>
              <a:t>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56197E-EEA1-0A64-B90A-BC0C5E463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7052" y="7333609"/>
            <a:ext cx="10563348" cy="12907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877C0D7-35EC-654F-16AB-8D12F705C6E5}"/>
              </a:ext>
            </a:extLst>
          </p:cNvPr>
          <p:cNvSpPr txBox="1"/>
          <p:nvPr/>
        </p:nvSpPr>
        <p:spPr>
          <a:xfrm>
            <a:off x="19766446" y="7400757"/>
            <a:ext cx="9706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de Date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418123-98B5-F293-9F3A-DF36AAC9ECBD}"/>
              </a:ext>
            </a:extLst>
          </p:cNvPr>
          <p:cNvSpPr txBox="1"/>
          <p:nvPr/>
        </p:nvSpPr>
        <p:spPr>
          <a:xfrm>
            <a:off x="19307052" y="8533617"/>
            <a:ext cx="10563348" cy="1024896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o-RO" sz="4400" dirty="0">
                <a:latin typeface="Arial" panose="020B0604020202020204" pitchFamily="34" charset="0"/>
                <a:cs typeface="Arial" panose="020B0604020202020204" pitchFamily="34" charset="0"/>
              </a:rPr>
              <a:t>	-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o-RO" sz="4400" dirty="0">
                <a:latin typeface="Arial" panose="020B0604020202020204" pitchFamily="34" charset="0"/>
                <a:cs typeface="Arial" panose="020B0604020202020204" pitchFamily="34" charset="0"/>
              </a:rPr>
              <a:t> videouri in format mp4 cu diferiți oameni aflați in mișcare</a:t>
            </a:r>
          </a:p>
          <a:p>
            <a:r>
              <a:rPr lang="ro-RO" sz="4400" dirty="0">
                <a:latin typeface="Arial" panose="020B0604020202020204" pitchFamily="34" charset="0"/>
                <a:cs typeface="Arial" panose="020B0604020202020204" pitchFamily="34" charset="0"/>
              </a:rPr>
              <a:t>	- Webcam</a:t>
            </a: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1425AC6E-06F5-3015-7E4F-3E847AB9A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5269" y="11029148"/>
            <a:ext cx="3911303" cy="325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98D460-18A5-5D16-75CB-6965B7DEA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2625" y="10976581"/>
            <a:ext cx="4031925" cy="323976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4860E3-21AA-020D-3FD5-4F11C42F0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2625" y="15219495"/>
            <a:ext cx="4031925" cy="32261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C49E71E-EE0F-25D8-E0DE-682C737D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48" y="15754007"/>
            <a:ext cx="8164806" cy="158140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618D5BB-6A87-010F-09B2-218F65BDC268}"/>
              </a:ext>
            </a:extLst>
          </p:cNvPr>
          <p:cNvSpPr txBox="1"/>
          <p:nvPr/>
        </p:nvSpPr>
        <p:spPr>
          <a:xfrm>
            <a:off x="873346" y="16063132"/>
            <a:ext cx="75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Metode de evaluare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30196D-8E8C-211D-699E-2A5312FC40EF}"/>
              </a:ext>
            </a:extLst>
          </p:cNvPr>
          <p:cNvSpPr txBox="1"/>
          <p:nvPr/>
        </p:nvSpPr>
        <p:spPr>
          <a:xfrm>
            <a:off x="643915" y="17356002"/>
            <a:ext cx="8094039" cy="8217634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ro-RO" sz="4200" b="1" dirty="0"/>
              <a:t>	</a:t>
            </a:r>
            <a:r>
              <a:rPr lang="en-GB" sz="4400" dirty="0" err="1">
                <a:latin typeface="gg sans"/>
              </a:rPr>
              <a:t>Persoane</a:t>
            </a:r>
            <a:r>
              <a:rPr lang="en-GB" sz="4400" dirty="0">
                <a:latin typeface="gg sans"/>
              </a:rPr>
              <a:t> </a:t>
            </a:r>
            <a:r>
              <a:rPr lang="ro-RO" sz="4400" dirty="0">
                <a:latin typeface="gg sans"/>
              </a:rPr>
              <a:t>u</a:t>
            </a:r>
            <a:r>
              <a:rPr lang="en-GB" sz="4400" dirty="0">
                <a:latin typeface="gg sans"/>
              </a:rPr>
              <a:t>nice </a:t>
            </a:r>
            <a:r>
              <a:rPr lang="ro-RO" sz="4400" dirty="0">
                <a:latin typeface="gg sans"/>
              </a:rPr>
              <a:t>d</a:t>
            </a:r>
            <a:r>
              <a:rPr lang="en-GB" sz="4400" dirty="0" err="1">
                <a:latin typeface="gg sans"/>
              </a:rPr>
              <a:t>etectate</a:t>
            </a:r>
            <a:r>
              <a:rPr lang="en-US" sz="4400" dirty="0">
                <a:latin typeface="gg sans"/>
              </a:rPr>
              <a:t>:</a:t>
            </a:r>
            <a:r>
              <a:rPr lang="ro-RO" sz="4400" dirty="0">
                <a:latin typeface="gg sans"/>
              </a:rPr>
              <a:t>     </a:t>
            </a:r>
            <a:r>
              <a:rPr lang="en-US" sz="4400" dirty="0">
                <a:latin typeface="gg sans"/>
              </a:rPr>
              <a:t>R</a:t>
            </a:r>
            <a:r>
              <a:rPr lang="en-GB" sz="4400" dirty="0" err="1">
                <a:latin typeface="gg sans"/>
              </a:rPr>
              <a:t>eprezintă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volumul</a:t>
            </a:r>
            <a:r>
              <a:rPr lang="en-GB" sz="4400" dirty="0">
                <a:latin typeface="gg sans"/>
              </a:rPr>
              <a:t> total de </a:t>
            </a:r>
            <a:r>
              <a:rPr lang="en-GB" sz="4400" dirty="0" err="1">
                <a:latin typeface="gg sans"/>
              </a:rPr>
              <a:t>identități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gestionate</a:t>
            </a:r>
            <a:r>
              <a:rPr lang="en-GB" sz="4400" dirty="0">
                <a:latin typeface="gg sans"/>
              </a:rPr>
              <a:t>.</a:t>
            </a:r>
            <a:endParaRPr lang="ro-RO" sz="4400" dirty="0">
              <a:latin typeface="gg sans"/>
            </a:endParaRPr>
          </a:p>
          <a:p>
            <a:pPr fontAlgn="base"/>
            <a:r>
              <a:rPr lang="ro-RO" sz="4400" dirty="0">
                <a:latin typeface="gg sans"/>
              </a:rPr>
              <a:t>	</a:t>
            </a:r>
            <a:r>
              <a:rPr lang="en-GB" sz="4400" dirty="0">
                <a:latin typeface="gg sans"/>
              </a:rPr>
              <a:t>Scor de </a:t>
            </a:r>
            <a:r>
              <a:rPr lang="en-GB" sz="4400" dirty="0" err="1">
                <a:latin typeface="gg sans"/>
              </a:rPr>
              <a:t>Încredere</a:t>
            </a:r>
            <a:r>
              <a:rPr lang="en-GB" sz="4400" dirty="0">
                <a:latin typeface="gg sans"/>
              </a:rPr>
              <a:t>: </a:t>
            </a:r>
            <a:r>
              <a:rPr lang="en-US" sz="4400" dirty="0">
                <a:latin typeface="gg sans"/>
              </a:rPr>
              <a:t>M</a:t>
            </a:r>
            <a:r>
              <a:rPr lang="en-GB" sz="4400" dirty="0" err="1">
                <a:latin typeface="gg sans"/>
              </a:rPr>
              <a:t>ăsoară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stabilitatea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identificării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în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timp.</a:t>
            </a:r>
            <a:endParaRPr lang="ro-RO" sz="4400" dirty="0">
              <a:latin typeface="gg sans"/>
            </a:endParaRPr>
          </a:p>
          <a:p>
            <a:pPr fontAlgn="base"/>
            <a:r>
              <a:rPr lang="ro-RO" sz="4400" dirty="0">
                <a:latin typeface="gg sans"/>
              </a:rPr>
              <a:t>	</a:t>
            </a:r>
            <a:r>
              <a:rPr lang="en-GB" sz="4400" dirty="0" err="1">
                <a:latin typeface="gg sans"/>
              </a:rPr>
              <a:t>IoU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Mediu</a:t>
            </a:r>
            <a:r>
              <a:rPr lang="en-GB" sz="4400" dirty="0">
                <a:latin typeface="gg sans"/>
              </a:rPr>
              <a:t>: </a:t>
            </a:r>
            <a:r>
              <a:rPr lang="en-GB" sz="4400" dirty="0" err="1">
                <a:latin typeface="gg sans"/>
              </a:rPr>
              <a:t>Evaluarea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suprapunerii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geometrice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între</a:t>
            </a:r>
            <a:r>
              <a:rPr lang="en-GB" sz="4400" dirty="0">
                <a:latin typeface="gg sans"/>
              </a:rPr>
              <a:t> cadre.</a:t>
            </a:r>
            <a:endParaRPr lang="ro-RO" sz="4400" dirty="0">
              <a:latin typeface="gg sans"/>
            </a:endParaRPr>
          </a:p>
          <a:p>
            <a:pPr fontAlgn="base"/>
            <a:r>
              <a:rPr lang="ro-RO" sz="4400" dirty="0">
                <a:latin typeface="gg sans"/>
              </a:rPr>
              <a:t>	</a:t>
            </a:r>
            <a:r>
              <a:rPr lang="en-GB" sz="4400" dirty="0" err="1">
                <a:latin typeface="gg sans"/>
              </a:rPr>
              <a:t>Similaritate</a:t>
            </a:r>
            <a:r>
              <a:rPr lang="en-GB" sz="4400" dirty="0">
                <a:latin typeface="gg sans"/>
              </a:rPr>
              <a:t> </a:t>
            </a:r>
            <a:r>
              <a:rPr lang="ro-RO" sz="4400" dirty="0">
                <a:latin typeface="gg sans"/>
              </a:rPr>
              <a:t>între cadre</a:t>
            </a:r>
            <a:r>
              <a:rPr lang="en-GB" sz="4400" dirty="0">
                <a:latin typeface="gg sans"/>
              </a:rPr>
              <a:t>: </a:t>
            </a:r>
            <a:r>
              <a:rPr lang="en-US" sz="4400" dirty="0">
                <a:latin typeface="gg sans"/>
              </a:rPr>
              <a:t>M</a:t>
            </a:r>
            <a:r>
              <a:rPr lang="en-GB" sz="4400" dirty="0" err="1">
                <a:latin typeface="gg sans"/>
              </a:rPr>
              <a:t>ăsoară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precizia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recunoașterii</a:t>
            </a:r>
            <a:r>
              <a:rPr lang="en-GB" sz="4400" dirty="0">
                <a:latin typeface="gg sans"/>
              </a:rPr>
              <a:t> </a:t>
            </a:r>
            <a:r>
              <a:rPr lang="en-GB" sz="4400" dirty="0" err="1">
                <a:latin typeface="gg sans"/>
              </a:rPr>
              <a:t>bazate</a:t>
            </a:r>
            <a:r>
              <a:rPr lang="en-GB" sz="4400" dirty="0">
                <a:latin typeface="gg sans"/>
              </a:rPr>
              <a:t> pe </a:t>
            </a:r>
            <a:r>
              <a:rPr lang="en-GB" sz="4400" dirty="0" err="1">
                <a:latin typeface="gg sans"/>
              </a:rPr>
              <a:t>histograme</a:t>
            </a:r>
            <a:r>
              <a:rPr lang="en-GB" sz="4400" dirty="0">
                <a:latin typeface="gg sans"/>
              </a:rPr>
              <a:t> HSV</a:t>
            </a:r>
            <a:r>
              <a:rPr lang="ro-RO" sz="4400" dirty="0">
                <a:latin typeface="gg sans"/>
              </a:rPr>
              <a:t> per cadru</a:t>
            </a:r>
            <a:r>
              <a:rPr lang="en-GB" sz="4400" dirty="0">
                <a:latin typeface="gg sans"/>
              </a:rPr>
              <a:t>.</a:t>
            </a:r>
            <a:endParaRPr lang="ro-RO" sz="4400" dirty="0">
              <a:latin typeface="gg sans"/>
            </a:endParaRPr>
          </a:p>
          <a:p>
            <a:pPr fontAlgn="base"/>
            <a:r>
              <a:rPr lang="ro-RO" sz="4400" i="0" dirty="0">
                <a:effectLst/>
                <a:latin typeface="inherit"/>
              </a:rPr>
              <a:t>	</a:t>
            </a:r>
            <a:endParaRPr lang="en-US" sz="4400" i="0" dirty="0">
              <a:effectLst/>
              <a:latin typeface="inheri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81CFFF-6C90-0C5D-2E1D-CD0B83B4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7053" y="19579971"/>
            <a:ext cx="10563348" cy="129072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011EFBF-AB59-48A8-5FD2-03D684456E83}"/>
              </a:ext>
            </a:extLst>
          </p:cNvPr>
          <p:cNvSpPr txBox="1"/>
          <p:nvPr/>
        </p:nvSpPr>
        <p:spPr>
          <a:xfrm>
            <a:off x="19554093" y="19857177"/>
            <a:ext cx="9706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Rezultate obținute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445A86-AD59-A4D9-374A-F30DBE9F36F7}"/>
              </a:ext>
            </a:extLst>
          </p:cNvPr>
          <p:cNvSpPr txBox="1"/>
          <p:nvPr/>
        </p:nvSpPr>
        <p:spPr>
          <a:xfrm>
            <a:off x="19307053" y="20870697"/>
            <a:ext cx="10563348" cy="889474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o-RO" sz="4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o-R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BE6E233-35FF-F073-DE1E-6006A2F9B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385" y="16544710"/>
            <a:ext cx="8164806" cy="158140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79DB0FF-130D-37CC-3C6E-9DFC4B5B091E}"/>
              </a:ext>
            </a:extLst>
          </p:cNvPr>
          <p:cNvSpPr txBox="1"/>
          <p:nvPr/>
        </p:nvSpPr>
        <p:spPr>
          <a:xfrm>
            <a:off x="10055425" y="16821917"/>
            <a:ext cx="75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Segmentare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0E7A51-813E-E686-B3DB-789AEFCA9301}"/>
              </a:ext>
            </a:extLst>
          </p:cNvPr>
          <p:cNvSpPr txBox="1"/>
          <p:nvPr/>
        </p:nvSpPr>
        <p:spPr>
          <a:xfrm>
            <a:off x="9808385" y="18017671"/>
            <a:ext cx="8164806" cy="889474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Segmentare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Spatială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Divizarea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automată</a:t>
            </a:r>
            <a:r>
              <a:rPr lang="en-US" sz="4400" b="0" i="0" dirty="0">
                <a:effectLst/>
                <a:latin typeface="gg sans"/>
              </a:rPr>
              <a:t> a </a:t>
            </a:r>
            <a:r>
              <a:rPr lang="en-US" sz="4400" b="0" i="0" dirty="0" err="1">
                <a:effectLst/>
                <a:latin typeface="gg sans"/>
              </a:rPr>
              <a:t>persoanei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în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două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regiuni</a:t>
            </a:r>
            <a:r>
              <a:rPr lang="en-US" sz="4400" b="0" i="0" dirty="0">
                <a:effectLst/>
                <a:latin typeface="gg sans"/>
              </a:rPr>
              <a:t> (Top/Bottom) </a:t>
            </a:r>
            <a:r>
              <a:rPr lang="en-US" sz="4400" b="0" i="0" dirty="0" err="1">
                <a:effectLst/>
                <a:latin typeface="gg sans"/>
              </a:rPr>
              <a:t>pentru</a:t>
            </a:r>
            <a:r>
              <a:rPr lang="en-US" sz="4400" b="0" i="0" dirty="0">
                <a:effectLst/>
                <a:latin typeface="gg sans"/>
              </a:rPr>
              <a:t> a </a:t>
            </a:r>
            <a:r>
              <a:rPr lang="en-US" sz="4400" b="0" i="0" dirty="0" err="1">
                <a:effectLst/>
                <a:latin typeface="gg sans"/>
              </a:rPr>
              <a:t>izola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cromatic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piesele</a:t>
            </a:r>
            <a:r>
              <a:rPr lang="en-US" sz="4400" b="0" i="0" dirty="0">
                <a:effectLst/>
                <a:latin typeface="gg sans"/>
              </a:rPr>
              <a:t> de </a:t>
            </a:r>
            <a:r>
              <a:rPr lang="en-US" sz="4400" b="0" i="0" dirty="0" err="1">
                <a:effectLst/>
                <a:latin typeface="gg sans"/>
              </a:rPr>
              <a:t>îmbrăcăminte</a:t>
            </a:r>
            <a:r>
              <a:rPr lang="en-US" sz="4400" b="0" i="0" dirty="0">
                <a:effectLst/>
                <a:latin typeface="gg sans"/>
              </a:rPr>
              <a:t>. </a:t>
            </a:r>
            <a:endParaRPr lang="ro-RO" sz="4400" b="0" i="0" dirty="0">
              <a:effectLst/>
              <a:latin typeface="gg sans"/>
            </a:endParaRPr>
          </a:p>
          <a:p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Analiză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Cromatică</a:t>
            </a:r>
            <a:r>
              <a:rPr lang="en-US" sz="4400" b="0" i="0" dirty="0">
                <a:effectLst/>
                <a:latin typeface="gg sans"/>
              </a:rPr>
              <a:t> HSV: </a:t>
            </a:r>
            <a:r>
              <a:rPr lang="en-US" sz="4400" b="0" i="0" dirty="0" err="1">
                <a:effectLst/>
                <a:latin typeface="gg sans"/>
              </a:rPr>
              <a:t>Extracția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histogramelor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în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spațiul</a:t>
            </a:r>
            <a:r>
              <a:rPr lang="en-US" sz="4400" b="0" i="0" dirty="0">
                <a:effectLst/>
                <a:latin typeface="gg sans"/>
              </a:rPr>
              <a:t> HSV, </a:t>
            </a:r>
            <a:r>
              <a:rPr lang="en-US" sz="4400" b="0" i="0" dirty="0" err="1">
                <a:effectLst/>
                <a:latin typeface="gg sans"/>
              </a:rPr>
              <a:t>asigurând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robustețe</a:t>
            </a:r>
            <a:r>
              <a:rPr lang="en-US" sz="4400" b="0" i="0" dirty="0">
                <a:effectLst/>
                <a:latin typeface="gg sans"/>
              </a:rPr>
              <a:t> la </a:t>
            </a:r>
            <a:r>
              <a:rPr lang="en-US" sz="4400" b="0" i="0" dirty="0" err="1">
                <a:effectLst/>
                <a:latin typeface="gg sans"/>
              </a:rPr>
              <a:t>variațiile</a:t>
            </a:r>
            <a:r>
              <a:rPr lang="en-US" sz="4400" b="0" i="0" dirty="0">
                <a:effectLst/>
                <a:latin typeface="gg sans"/>
              </a:rPr>
              <a:t> de </a:t>
            </a:r>
            <a:r>
              <a:rPr lang="en-US" sz="4400" b="0" i="0" dirty="0" err="1">
                <a:effectLst/>
                <a:latin typeface="gg sans"/>
              </a:rPr>
              <a:t>iluminare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și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umbre</a:t>
            </a:r>
            <a:r>
              <a:rPr lang="en-US" sz="4400" b="0" i="0" dirty="0">
                <a:effectLst/>
                <a:latin typeface="gg sans"/>
              </a:rPr>
              <a:t>. </a:t>
            </a:r>
            <a:endParaRPr lang="ro-RO" sz="4400" b="0" i="0" dirty="0">
              <a:effectLst/>
              <a:latin typeface="gg sans"/>
            </a:endParaRPr>
          </a:p>
          <a:p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Modelare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Geometrică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Includerea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raportului</a:t>
            </a:r>
            <a:r>
              <a:rPr lang="en-US" sz="4400" b="0" i="0" dirty="0">
                <a:effectLst/>
                <a:latin typeface="gg sans"/>
              </a:rPr>
              <a:t> de aspect (aspect ratio) al bounding-box-</a:t>
            </a:r>
            <a:r>
              <a:rPr lang="en-US" sz="4400" b="0" i="0" dirty="0" err="1">
                <a:effectLst/>
                <a:latin typeface="gg sans"/>
              </a:rPr>
              <a:t>ului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pentru</a:t>
            </a:r>
            <a:r>
              <a:rPr lang="en-US" sz="4400" b="0" i="0" dirty="0">
                <a:effectLst/>
                <a:latin typeface="gg sans"/>
              </a:rPr>
              <a:t> a </a:t>
            </a:r>
            <a:r>
              <a:rPr lang="en-US" sz="4400" b="0" i="0" dirty="0" err="1">
                <a:effectLst/>
                <a:latin typeface="gg sans"/>
              </a:rPr>
              <a:t>diferenția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siluetele</a:t>
            </a:r>
            <a:r>
              <a:rPr lang="en-US" sz="4400" b="0" i="0" dirty="0">
                <a:effectLst/>
                <a:latin typeface="gg sans"/>
              </a:rPr>
              <a:t>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E80C64E-1C60-FBE5-D0D0-B10ABBCA2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264" y="30244927"/>
            <a:ext cx="9821074" cy="158140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8A586A5-A7C6-A36F-2A20-F228C1FE6313}"/>
              </a:ext>
            </a:extLst>
          </p:cNvPr>
          <p:cNvSpPr txBox="1"/>
          <p:nvPr/>
        </p:nvSpPr>
        <p:spPr>
          <a:xfrm>
            <a:off x="20868462" y="30573612"/>
            <a:ext cx="75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Concluzii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87AB27-3B53-BE62-9F14-13C72D9F189C}"/>
              </a:ext>
            </a:extLst>
          </p:cNvPr>
          <p:cNvSpPr txBox="1"/>
          <p:nvPr/>
        </p:nvSpPr>
        <p:spPr>
          <a:xfrm>
            <a:off x="19709264" y="31717888"/>
            <a:ext cx="9821074" cy="6863417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Eficiență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Integrarea</a:t>
            </a:r>
            <a:r>
              <a:rPr lang="en-US" sz="4400" b="0" i="0" dirty="0">
                <a:effectLst/>
                <a:latin typeface="gg sans"/>
              </a:rPr>
              <a:t> YOLOv8 + Re-ID reduce </a:t>
            </a:r>
            <a:r>
              <a:rPr lang="en-US" sz="4400" b="0" i="0" dirty="0" err="1">
                <a:effectLst/>
                <a:latin typeface="gg sans"/>
              </a:rPr>
              <a:t>semnificativ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pierderea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identității</a:t>
            </a:r>
            <a:r>
              <a:rPr lang="en-US" sz="4400" b="0" i="0" dirty="0">
                <a:effectLst/>
                <a:latin typeface="gg sans"/>
              </a:rPr>
              <a:t> la </a:t>
            </a:r>
            <a:r>
              <a:rPr lang="en-US" sz="4400" b="0" i="0" dirty="0" err="1">
                <a:effectLst/>
                <a:latin typeface="gg sans"/>
              </a:rPr>
              <a:t>obstacole</a:t>
            </a:r>
            <a:r>
              <a:rPr lang="en-US" sz="4400" b="0" i="0" dirty="0">
                <a:effectLst/>
                <a:latin typeface="gg sans"/>
              </a:rPr>
              <a:t>. </a:t>
            </a:r>
            <a:endParaRPr lang="ro-RO" sz="4400" b="0" i="0" dirty="0">
              <a:effectLst/>
              <a:latin typeface="gg sans"/>
            </a:endParaRPr>
          </a:p>
          <a:p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Acuratețe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Segmentarea</a:t>
            </a:r>
            <a:r>
              <a:rPr lang="en-US" sz="4400" b="0" i="0" dirty="0">
                <a:effectLst/>
                <a:latin typeface="gg sans"/>
              </a:rPr>
              <a:t> Top–Bottom </a:t>
            </a:r>
            <a:r>
              <a:rPr lang="en-US" sz="4400" b="0" i="0" dirty="0" err="1">
                <a:effectLst/>
                <a:latin typeface="gg sans"/>
              </a:rPr>
              <a:t>distinge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mai</a:t>
            </a:r>
            <a:r>
              <a:rPr lang="en-US" sz="4400" b="0" i="0" dirty="0">
                <a:effectLst/>
                <a:latin typeface="gg sans"/>
              </a:rPr>
              <a:t> bine </a:t>
            </a:r>
            <a:r>
              <a:rPr lang="en-US" sz="4400" b="0" i="0" dirty="0" err="1">
                <a:effectLst/>
                <a:latin typeface="gg sans"/>
              </a:rPr>
              <a:t>persoanele</a:t>
            </a:r>
            <a:r>
              <a:rPr lang="en-US" sz="4400" b="0" i="0" dirty="0">
                <a:effectLst/>
                <a:latin typeface="gg sans"/>
              </a:rPr>
              <a:t> cu </a:t>
            </a:r>
            <a:r>
              <a:rPr lang="en-US" sz="4400" b="0" i="0" dirty="0" err="1">
                <a:effectLst/>
                <a:latin typeface="gg sans"/>
              </a:rPr>
              <a:t>haine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similare</a:t>
            </a:r>
            <a:r>
              <a:rPr lang="en-US" sz="4400" b="0" i="0" dirty="0">
                <a:effectLst/>
                <a:latin typeface="gg sans"/>
              </a:rPr>
              <a:t>. </a:t>
            </a:r>
            <a:endParaRPr lang="ro-RO" sz="4400" b="0" i="0" dirty="0">
              <a:effectLst/>
              <a:latin typeface="gg sans"/>
            </a:endParaRPr>
          </a:p>
          <a:p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Stabilitate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Asigură</a:t>
            </a:r>
            <a:r>
              <a:rPr lang="en-US" sz="4400" b="0" i="0" dirty="0">
                <a:effectLst/>
                <a:latin typeface="gg sans"/>
              </a:rPr>
              <a:t> re-</a:t>
            </a:r>
            <a:r>
              <a:rPr lang="en-US" sz="4400" b="0" i="0" dirty="0" err="1">
                <a:effectLst/>
                <a:latin typeface="gg sans"/>
              </a:rPr>
              <a:t>identificarea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corectă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chiar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și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după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absențe</a:t>
            </a:r>
            <a:r>
              <a:rPr lang="en-US" sz="4400" b="0" i="0" dirty="0">
                <a:effectLst/>
                <a:latin typeface="gg sans"/>
              </a:rPr>
              <a:t> lungi. </a:t>
            </a:r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Limitări</a:t>
            </a:r>
            <a:r>
              <a:rPr lang="en-US" sz="4400" b="0" i="0" dirty="0">
                <a:effectLst/>
                <a:latin typeface="gg sans"/>
              </a:rPr>
              <a:t>: </a:t>
            </a:r>
            <a:r>
              <a:rPr lang="en-US" sz="4400" b="0" i="0" dirty="0" err="1">
                <a:effectLst/>
                <a:latin typeface="gg sans"/>
              </a:rPr>
              <a:t>Iluminarea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variabilă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afectează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precizia</a:t>
            </a:r>
            <a:r>
              <a:rPr lang="en-US" sz="4400" b="0" i="0" dirty="0">
                <a:effectLst/>
                <a:latin typeface="gg sans"/>
              </a:rPr>
              <a:t> </a:t>
            </a:r>
            <a:r>
              <a:rPr lang="en-US" sz="4400" b="0" i="0" dirty="0" err="1">
                <a:effectLst/>
                <a:latin typeface="gg sans"/>
              </a:rPr>
              <a:t>histogramelor</a:t>
            </a:r>
            <a:r>
              <a:rPr lang="en-US" sz="4400" b="0" i="0" dirty="0">
                <a:effectLst/>
                <a:latin typeface="gg sans"/>
              </a:rPr>
              <a:t> HSV.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9DD6A1C-EF91-5E24-426A-6B64FF395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45" y="27252230"/>
            <a:ext cx="18212544" cy="158140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C68D504-FF56-C582-BAD8-FD245CC8D3D7}"/>
              </a:ext>
            </a:extLst>
          </p:cNvPr>
          <p:cNvSpPr txBox="1"/>
          <p:nvPr/>
        </p:nvSpPr>
        <p:spPr>
          <a:xfrm>
            <a:off x="890485" y="27529437"/>
            <a:ext cx="177087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Referințe</a:t>
            </a:r>
            <a:endParaRPr lang="en-US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B076C-BDBA-A260-E3B8-33B7F8A9080F}"/>
              </a:ext>
            </a:extLst>
          </p:cNvPr>
          <p:cNvSpPr txBox="1"/>
          <p:nvPr/>
        </p:nvSpPr>
        <p:spPr>
          <a:xfrm>
            <a:off x="643444" y="28725191"/>
            <a:ext cx="18212543" cy="4154984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fontAlgn="base"/>
            <a:r>
              <a:rPr lang="ro-RO" sz="4400" b="0" i="0" u="sng" dirty="0">
                <a:solidFill>
                  <a:srgbClr val="467886"/>
                </a:solidFill>
                <a:effectLst/>
                <a:latin typeface="inherit"/>
                <a:hlinkClick r:id="rId7" tooltip="https://github.com/ultralytics/ultr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</a:t>
            </a:r>
            <a:r>
              <a:rPr lang="en-US" sz="4400" b="0" i="0" dirty="0">
                <a:effectLst/>
                <a:latin typeface="inherit"/>
                <a:hlinkClick r:id="rId7" tooltip="https://github.com/ultralytics/ultralyt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https://github.com/ultralytics/ultralytics</a:t>
            </a:r>
            <a:r>
              <a:rPr lang="en-US" sz="4400" b="0" i="0" dirty="0">
                <a:effectLst/>
                <a:latin typeface="gg sans"/>
              </a:rPr>
              <a:t> </a:t>
            </a:r>
            <a:endParaRPr lang="ro-RO" sz="4400" b="0" i="0" dirty="0">
              <a:effectLst/>
              <a:latin typeface="gg sans"/>
            </a:endParaRPr>
          </a:p>
          <a:p>
            <a:pPr algn="l" fontAlgn="base"/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Bradski</a:t>
            </a:r>
            <a:r>
              <a:rPr lang="en-US" sz="4400" b="0" i="0" dirty="0">
                <a:effectLst/>
                <a:latin typeface="gg sans"/>
              </a:rPr>
              <a:t>, G. (2000). The OpenCV Library. Dr. Dobb's Journal of Software Tools </a:t>
            </a:r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>
                <a:effectLst/>
                <a:latin typeface="gg sans"/>
              </a:rPr>
              <a:t>Virtanen, P., et al. (2020). SciPy 1.0: Fundamental Algorithms for Scientific Computing in Python. Nature Methods </a:t>
            </a:r>
            <a:endParaRPr lang="ro-RO" sz="4400" b="0" i="0" dirty="0">
              <a:effectLst/>
              <a:latin typeface="gg sans"/>
            </a:endParaRPr>
          </a:p>
          <a:p>
            <a:pPr algn="l" fontAlgn="base"/>
            <a:r>
              <a:rPr lang="ro-RO" sz="4400" dirty="0">
                <a:latin typeface="gg sans"/>
              </a:rPr>
              <a:t>	</a:t>
            </a:r>
            <a:r>
              <a:rPr lang="en-US" sz="4400" b="0" i="0" dirty="0" err="1">
                <a:effectLst/>
                <a:latin typeface="gg sans"/>
              </a:rPr>
              <a:t>Wojke</a:t>
            </a:r>
            <a:r>
              <a:rPr lang="en-US" sz="4400" b="0" i="0" dirty="0">
                <a:effectLst/>
                <a:latin typeface="gg sans"/>
              </a:rPr>
              <a:t>, N., et al. (2017). Simple Online and Realtime Tracking with a Deep Association Metric (Deep SORT). ICIP</a:t>
            </a:r>
            <a:endParaRPr lang="en-US" sz="4400" b="0" i="0" dirty="0">
              <a:effectLst/>
              <a:latin typeface="inherit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C14AF4E-B759-36E0-F2A7-BC1EB8B509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83402" y="21214601"/>
            <a:ext cx="4218321" cy="309023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E264A25-4E23-AE0A-530D-F998130A96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92625" y="21214601"/>
            <a:ext cx="4153583" cy="297628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A32B644D-6CAC-5B8B-74E0-9D4ACD4B65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92626" y="25390417"/>
            <a:ext cx="4153582" cy="3558408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40122656-F2D1-50FB-E622-C4FB9368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5522" y="39263563"/>
            <a:ext cx="9821074" cy="1581406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FE9F39E8-A9CF-BE0B-FD29-A185E2CF7768}"/>
              </a:ext>
            </a:extLst>
          </p:cNvPr>
          <p:cNvSpPr txBox="1"/>
          <p:nvPr/>
        </p:nvSpPr>
        <p:spPr>
          <a:xfrm>
            <a:off x="21141286" y="39619869"/>
            <a:ext cx="7502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Realizat de</a:t>
            </a:r>
            <a:r>
              <a:rPr lang="en-US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E1C689B4-8373-7F10-308B-6B24FF2E7E9A}"/>
              </a:ext>
            </a:extLst>
          </p:cNvPr>
          <p:cNvSpPr txBox="1"/>
          <p:nvPr/>
        </p:nvSpPr>
        <p:spPr>
          <a:xfrm>
            <a:off x="19635522" y="40809959"/>
            <a:ext cx="9821074" cy="144655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o-RO" sz="4400" b="0" i="0" dirty="0">
                <a:effectLst/>
                <a:latin typeface="gg sans"/>
              </a:rPr>
              <a:t>	</a:t>
            </a:r>
            <a:r>
              <a:rPr lang="en-US" sz="4400" b="0" i="0" dirty="0">
                <a:effectLst/>
                <a:latin typeface="gg sans"/>
              </a:rPr>
              <a:t>Dobre </a:t>
            </a:r>
            <a:r>
              <a:rPr lang="ro-RO" sz="4400" b="0" i="0" dirty="0">
                <a:effectLst/>
                <a:latin typeface="gg sans"/>
              </a:rPr>
              <a:t>Ștefan Andrei</a:t>
            </a:r>
          </a:p>
          <a:p>
            <a:pPr algn="ctr"/>
            <a:r>
              <a:rPr lang="ro-RO" sz="4400" dirty="0">
                <a:latin typeface="gg sans"/>
              </a:rPr>
              <a:t>	</a:t>
            </a:r>
            <a:r>
              <a:rPr lang="ro-RO" sz="4400" b="0" i="0" dirty="0">
                <a:effectLst/>
                <a:latin typeface="gg sans"/>
              </a:rPr>
              <a:t>Covaliuc Lucian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E6EDA2-2B80-D94F-1F38-EDACF151A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9375"/>
              </p:ext>
            </p:extLst>
          </p:nvPr>
        </p:nvGraphicFramePr>
        <p:xfrm>
          <a:off x="638597" y="33692123"/>
          <a:ext cx="18212545" cy="7259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509">
                  <a:extLst>
                    <a:ext uri="{9D8B030D-6E8A-4147-A177-3AD203B41FA5}">
                      <a16:colId xmlns:a16="http://schemas.microsoft.com/office/drawing/2014/main" val="2866785036"/>
                    </a:ext>
                  </a:extLst>
                </a:gridCol>
                <a:gridCol w="3642509">
                  <a:extLst>
                    <a:ext uri="{9D8B030D-6E8A-4147-A177-3AD203B41FA5}">
                      <a16:colId xmlns:a16="http://schemas.microsoft.com/office/drawing/2014/main" val="1294499001"/>
                    </a:ext>
                  </a:extLst>
                </a:gridCol>
                <a:gridCol w="3642509">
                  <a:extLst>
                    <a:ext uri="{9D8B030D-6E8A-4147-A177-3AD203B41FA5}">
                      <a16:colId xmlns:a16="http://schemas.microsoft.com/office/drawing/2014/main" val="700280608"/>
                    </a:ext>
                  </a:extLst>
                </a:gridCol>
                <a:gridCol w="3642509">
                  <a:extLst>
                    <a:ext uri="{9D8B030D-6E8A-4147-A177-3AD203B41FA5}">
                      <a16:colId xmlns:a16="http://schemas.microsoft.com/office/drawing/2014/main" val="2495430423"/>
                    </a:ext>
                  </a:extLst>
                </a:gridCol>
                <a:gridCol w="3642509">
                  <a:extLst>
                    <a:ext uri="{9D8B030D-6E8A-4147-A177-3AD203B41FA5}">
                      <a16:colId xmlns:a16="http://schemas.microsoft.com/office/drawing/2014/main" val="2439482271"/>
                    </a:ext>
                  </a:extLst>
                </a:gridCol>
              </a:tblGrid>
              <a:tr h="1595873">
                <a:tc>
                  <a:txBody>
                    <a:bodyPr/>
                    <a:lstStyle/>
                    <a:p>
                      <a:pPr algn="ctr"/>
                      <a:r>
                        <a:rPr lang="en-US" sz="4800" dirty="0"/>
                        <a:t>Test </a:t>
                      </a:r>
                      <a:r>
                        <a:rPr lang="en-US" sz="4000" dirty="0"/>
                        <a:t>Video</a:t>
                      </a:r>
                      <a:r>
                        <a:rPr lang="en-US" sz="4800" dirty="0"/>
                        <a:t> #</a:t>
                      </a:r>
                      <a:endParaRPr lang="en-GB" sz="4800" dirty="0"/>
                    </a:p>
                  </a:txBody>
                  <a:tcPr>
                    <a:solidFill>
                      <a:srgbClr val="0B0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Pers. </a:t>
                      </a:r>
                      <a:r>
                        <a:rPr lang="ro-RO" sz="4000" dirty="0"/>
                        <a:t>U</a:t>
                      </a:r>
                      <a:r>
                        <a:rPr lang="en-US" sz="4000" dirty="0"/>
                        <a:t>nice </a:t>
                      </a:r>
                      <a:r>
                        <a:rPr lang="ro-RO" sz="4000" dirty="0"/>
                        <a:t>D</a:t>
                      </a:r>
                      <a:r>
                        <a:rPr lang="en-US" sz="4000" dirty="0" err="1"/>
                        <a:t>etectate</a:t>
                      </a:r>
                      <a:endParaRPr lang="en-GB" sz="4000" dirty="0"/>
                    </a:p>
                  </a:txBody>
                  <a:tcPr>
                    <a:solidFill>
                      <a:srgbClr val="0B0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4000" dirty="0"/>
                        <a:t>Scor de Încredere</a:t>
                      </a:r>
                      <a:endParaRPr lang="en-GB" sz="4000" dirty="0"/>
                    </a:p>
                  </a:txBody>
                  <a:tcPr>
                    <a:solidFill>
                      <a:srgbClr val="0B0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4400" dirty="0"/>
                        <a:t>IoU Mediu</a:t>
                      </a:r>
                      <a:endParaRPr lang="en-GB" sz="4400" dirty="0"/>
                    </a:p>
                  </a:txBody>
                  <a:tcPr>
                    <a:solidFill>
                      <a:srgbClr val="0B0B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4000" dirty="0"/>
                        <a:t>Similaritate între Cadre</a:t>
                      </a:r>
                      <a:endParaRPr lang="en-GB" sz="4000" dirty="0"/>
                    </a:p>
                  </a:txBody>
                  <a:tcPr>
                    <a:solidFill>
                      <a:srgbClr val="0B0B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55068"/>
                  </a:ext>
                </a:extLst>
              </a:tr>
              <a:tr h="141585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0.8860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830355"/>
                  </a:ext>
                </a:extLst>
              </a:tr>
              <a:tr h="141585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49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196481"/>
                  </a:ext>
                </a:extLst>
              </a:tr>
              <a:tr h="141585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0.8522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975128"/>
                  </a:ext>
                </a:extLst>
              </a:tr>
              <a:tr h="1415852"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0.7871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12974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2D148CB-366A-A188-7373-C4B92EE9E2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02966" y="25449753"/>
            <a:ext cx="4218321" cy="3499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CD2C17-09DE-4A55-047B-FD8E9FCE6D6A}"/>
              </a:ext>
            </a:extLst>
          </p:cNvPr>
          <p:cNvSpPr txBox="1"/>
          <p:nvPr/>
        </p:nvSpPr>
        <p:spPr>
          <a:xfrm>
            <a:off x="19883402" y="24501231"/>
            <a:ext cx="42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Test Video #1</a:t>
            </a:r>
            <a:endParaRPr lang="en-GB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58E7E6-F2A1-70A4-ADF1-151D7BB1DC0F}"/>
              </a:ext>
            </a:extLst>
          </p:cNvPr>
          <p:cNvSpPr txBox="1"/>
          <p:nvPr/>
        </p:nvSpPr>
        <p:spPr>
          <a:xfrm>
            <a:off x="25241557" y="24419872"/>
            <a:ext cx="42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Test Video #2</a:t>
            </a:r>
            <a:endParaRPr lang="en-GB" sz="4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387898-B647-2EB8-B177-64E9B97FD17E}"/>
              </a:ext>
            </a:extLst>
          </p:cNvPr>
          <p:cNvSpPr txBox="1"/>
          <p:nvPr/>
        </p:nvSpPr>
        <p:spPr>
          <a:xfrm>
            <a:off x="19802966" y="29107917"/>
            <a:ext cx="42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Test Video #3</a:t>
            </a:r>
            <a:endParaRPr lang="en-GB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66514E-5CAD-FAC9-790C-1DCEE886E1B7}"/>
              </a:ext>
            </a:extLst>
          </p:cNvPr>
          <p:cNvSpPr txBox="1"/>
          <p:nvPr/>
        </p:nvSpPr>
        <p:spPr>
          <a:xfrm>
            <a:off x="25045761" y="29060375"/>
            <a:ext cx="4215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Test Video #4</a:t>
            </a:r>
            <a:endParaRPr lang="en-GB" sz="4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36FD06E-FC4C-B8F6-FA24-F56D3A9ED5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35269" y="15203090"/>
            <a:ext cx="3911303" cy="327581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14E4537-257F-7FC9-D257-EBDD26A4D1B6}"/>
              </a:ext>
            </a:extLst>
          </p:cNvPr>
          <p:cNvSpPr txBox="1"/>
          <p:nvPr/>
        </p:nvSpPr>
        <p:spPr>
          <a:xfrm>
            <a:off x="3339797" y="41409409"/>
            <a:ext cx="15511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Tabel cu </a:t>
            </a:r>
            <a:r>
              <a:rPr lang="en-US" sz="4000" dirty="0" err="1"/>
              <a:t>metodele</a:t>
            </a:r>
            <a:r>
              <a:rPr lang="en-US" sz="4000" dirty="0"/>
              <a:t> de </a:t>
            </a:r>
            <a:r>
              <a:rPr lang="en-US" sz="4000" dirty="0" err="1"/>
              <a:t>evaluare</a:t>
            </a:r>
            <a:r>
              <a:rPr lang="en-US" sz="4000" dirty="0"/>
              <a:t> </a:t>
            </a:r>
            <a:r>
              <a:rPr lang="en-US" sz="4000" dirty="0" err="1"/>
              <a:t>pentru</a:t>
            </a:r>
            <a:r>
              <a:rPr lang="en-US" sz="4000" dirty="0"/>
              <a:t> </a:t>
            </a:r>
            <a:r>
              <a:rPr lang="en-US" sz="4000" dirty="0" err="1"/>
              <a:t>rezultatele</a:t>
            </a:r>
            <a:r>
              <a:rPr lang="en-US" sz="4000" dirty="0"/>
              <a:t> </a:t>
            </a:r>
            <a:r>
              <a:rPr lang="en-US" sz="4000" dirty="0" err="1"/>
              <a:t>ob</a:t>
            </a:r>
            <a:r>
              <a:rPr lang="ro-RO" sz="4000" dirty="0"/>
              <a:t>ținute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31579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465</Words>
  <Application>Microsoft Office PowerPoint</Application>
  <PresentationFormat>Custom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gg sans</vt:lpstr>
      <vt:lpstr>inherit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00Stefan</dc:creator>
  <cp:lastModifiedBy>Lucian Covaliuc</cp:lastModifiedBy>
  <cp:revision>4</cp:revision>
  <dcterms:created xsi:type="dcterms:W3CDTF">2026-01-06T13:44:31Z</dcterms:created>
  <dcterms:modified xsi:type="dcterms:W3CDTF">2026-01-10T13:26:13Z</dcterms:modified>
</cp:coreProperties>
</file>